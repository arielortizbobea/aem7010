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notesMasterIdLst>
    <p:notesMasterId r:id="rId16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notesMaster" Target="notesMasters/notesMaster1.xml"/><Relationship Id="rId17" Type="http://schemas.openxmlformats.org/officeDocument/2006/relationships/presProps" Target="presProps.xml"/><Relationship Id="rId18" Type="http://schemas.openxmlformats.org/officeDocument/2006/relationships/viewProps" Target="viewProps.xml"/><Relationship Id="rId19" Type="http://schemas.openxmlformats.org/officeDocument/2006/relationships/theme" Target="theme/theme1.xml"/><Relationship Id="rId2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image" Target="../media/image-10-3.png"/><Relationship Id="rId4" Type="http://schemas.openxmlformats.org/officeDocument/2006/relationships/image" Target="../media/image-10-4.png"/><Relationship Id="rId5" Type="http://schemas.openxmlformats.org/officeDocument/2006/relationships/image" Target="../media/image-10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B31B1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365760"/>
            <a:ext cx="2011680" cy="548640"/>
          </a:xfrm>
          <a:prstGeom prst="rect">
            <a:avLst/>
          </a:prstGeom>
        </p:spPr>
      </p:pic>
      <p:pic>
        <p:nvPicPr>
          <p:cNvPr id="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554480"/>
            <a:ext cx="1097280" cy="1097280"/>
          </a:xfrm>
          <a:prstGeom prst="rect">
            <a:avLst/>
          </a:prstGeom>
        </p:spPr>
      </p:pic>
      <p:sp>
        <p:nvSpPr>
          <p:cNvPr id="4" name="Text 0"/>
          <p:cNvSpPr/>
          <p:nvPr/>
        </p:nvSpPr>
        <p:spPr>
          <a:xfrm>
            <a:off x="1920240" y="1188720"/>
            <a:ext cx="640080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4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Version Control</a:t>
            </a:r>
            <a:endParaRPr lang="en-US" sz="42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4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with Git</a:t>
            </a:r>
            <a:endParaRPr lang="en-US" sz="4200" dirty="0"/>
          </a:p>
        </p:txBody>
      </p:sp>
      <p:sp>
        <p:nvSpPr>
          <p:cNvPr id="5" name="Shape 1"/>
          <p:cNvSpPr/>
          <p:nvPr/>
        </p:nvSpPr>
        <p:spPr>
          <a:xfrm>
            <a:off x="1920240" y="3200400"/>
            <a:ext cx="2286000" cy="36576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6" name="Text 2"/>
          <p:cNvSpPr/>
          <p:nvPr/>
        </p:nvSpPr>
        <p:spPr>
          <a:xfrm>
            <a:off x="1920240" y="3429000"/>
            <a:ext cx="5486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Session 1: Fundamentals</a:t>
            </a:r>
            <a:endParaRPr lang="en-US" sz="2000" dirty="0"/>
          </a:p>
        </p:txBody>
      </p:sp>
      <p:sp>
        <p:nvSpPr>
          <p:cNvPr id="7" name="Text 3"/>
          <p:cNvSpPr/>
          <p:nvPr/>
        </p:nvSpPr>
        <p:spPr>
          <a:xfrm>
            <a:off x="548640" y="4114800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Prof. Ariel Ortiz-Bobea</a:t>
            </a:r>
            <a:endParaRPr lang="en-US" sz="1400" dirty="0"/>
          </a:p>
        </p:txBody>
      </p:sp>
      <p:sp>
        <p:nvSpPr>
          <p:cNvPr id="8" name="Text 4"/>
          <p:cNvSpPr/>
          <p:nvPr/>
        </p:nvSpPr>
        <p:spPr>
          <a:xfrm>
            <a:off x="548640" y="443484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8BF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AEM 7010: Doing Applied Economics Research: Practical Skills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9F5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7772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B31B1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Why Version Control?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8046720" y="4709160"/>
            <a:ext cx="914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61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/ 14</a:t>
            </a:r>
            <a:endParaRPr lang="en-US" sz="900" dirty="0"/>
          </a:p>
        </p:txBody>
      </p:sp>
      <p:sp>
        <p:nvSpPr>
          <p:cNvPr id="4" name="Shape 2"/>
          <p:cNvSpPr/>
          <p:nvPr/>
        </p:nvSpPr>
        <p:spPr>
          <a:xfrm>
            <a:off x="548640" y="1188720"/>
            <a:ext cx="3840480" cy="2560320"/>
          </a:xfrm>
          <a:prstGeom prst="rect">
            <a:avLst/>
          </a:prstGeom>
          <a:solidFill>
            <a:srgbClr val="1E1E1E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914400" y="1371600"/>
            <a:ext cx="3200400" cy="2286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50000"/>
              </a:lnSpc>
              <a:buNone/>
            </a:pPr>
            <a:r>
              <a:rPr lang="en-US" sz="13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analysis_v1.R</a:t>
            </a:r>
            <a:endParaRPr lang="en-US" sz="13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3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analysis_v2.R</a:t>
            </a:r>
            <a:endParaRPr lang="en-US" sz="13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3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analysis_FINAL.R</a:t>
            </a:r>
            <a:endParaRPr lang="en-US" sz="13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3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analysis_FINAL_v2.R</a:t>
            </a:r>
            <a:endParaRPr lang="en-US" sz="13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3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analysis_REALLY_FINAL.R</a:t>
            </a:r>
            <a:endParaRPr lang="en-US" sz="13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3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analysis_FINAL_USE_THIS.R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548640" y="3840480"/>
            <a:ext cx="3840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6B61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Sound familiar?</a:t>
            </a:r>
            <a:endParaRPr lang="en-US" sz="1200" dirty="0"/>
          </a:p>
        </p:txBody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754880" y="1234440"/>
            <a:ext cx="320040" cy="32004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5212080" y="1170432"/>
            <a:ext cx="3474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Track every change</a:t>
            </a:r>
            <a:endParaRPr lang="en-US" sz="1400" dirty="0"/>
          </a:p>
        </p:txBody>
      </p:sp>
      <p:sp>
        <p:nvSpPr>
          <p:cNvPr id="9" name="Text 6"/>
          <p:cNvSpPr/>
          <p:nvPr/>
        </p:nvSpPr>
        <p:spPr>
          <a:xfrm>
            <a:off x="5212080" y="1444752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61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See exactly what changed, when, and why</a:t>
            </a:r>
            <a:endParaRPr lang="en-US" sz="1100" dirty="0"/>
          </a:p>
        </p:txBody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54880" y="1892808"/>
            <a:ext cx="320040" cy="320040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5212080" y="1828800"/>
            <a:ext cx="3474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Undo mistakes safely</a:t>
            </a:r>
            <a:endParaRPr lang="en-US" sz="1400" dirty="0"/>
          </a:p>
        </p:txBody>
      </p:sp>
      <p:sp>
        <p:nvSpPr>
          <p:cNvPr id="12" name="Text 8"/>
          <p:cNvSpPr/>
          <p:nvPr/>
        </p:nvSpPr>
        <p:spPr>
          <a:xfrm>
            <a:off x="5212080" y="2103120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61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Revert to any previous version in seconds</a:t>
            </a:r>
            <a:endParaRPr lang="en-US" sz="1100" dirty="0"/>
          </a:p>
        </p:txBody>
      </p:sp>
      <p:pic>
        <p:nvPicPr>
          <p:cNvPr id="13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54880" y="2551176"/>
            <a:ext cx="320040" cy="320040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5212080" y="2487168"/>
            <a:ext cx="3474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Collaborate without chaos</a:t>
            </a:r>
            <a:endParaRPr lang="en-US" sz="1400" dirty="0"/>
          </a:p>
        </p:txBody>
      </p:sp>
      <p:sp>
        <p:nvSpPr>
          <p:cNvPr id="15" name="Text 10"/>
          <p:cNvSpPr/>
          <p:nvPr/>
        </p:nvSpPr>
        <p:spPr>
          <a:xfrm>
            <a:off x="5212080" y="2761488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61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Multiple people can work on the same project</a:t>
            </a:r>
            <a:endParaRPr lang="en-US" sz="1100" dirty="0"/>
          </a:p>
        </p:txBody>
      </p:sp>
      <p:pic>
        <p:nvPicPr>
          <p:cNvPr id="16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54880" y="3209544"/>
            <a:ext cx="320040" cy="320040"/>
          </a:xfrm>
          <a:prstGeom prst="rect">
            <a:avLst/>
          </a:prstGeom>
        </p:spPr>
      </p:pic>
      <p:sp>
        <p:nvSpPr>
          <p:cNvPr id="17" name="Text 11"/>
          <p:cNvSpPr/>
          <p:nvPr/>
        </p:nvSpPr>
        <p:spPr>
          <a:xfrm>
            <a:off x="5212080" y="3145536"/>
            <a:ext cx="3474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Reproduce your results</a:t>
            </a:r>
            <a:endParaRPr lang="en-US" sz="1400" dirty="0"/>
          </a:p>
        </p:txBody>
      </p:sp>
      <p:sp>
        <p:nvSpPr>
          <p:cNvPr id="18" name="Text 12"/>
          <p:cNvSpPr/>
          <p:nvPr/>
        </p:nvSpPr>
        <p:spPr>
          <a:xfrm>
            <a:off x="5212080" y="3419856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61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Tag the exact code that generated a paper's results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9F5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7772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B31B1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What Is Git?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8046720" y="4709160"/>
            <a:ext cx="914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61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/ 14</a:t>
            </a:r>
            <a:endParaRPr lang="en-US" sz="900" dirty="0"/>
          </a:p>
        </p:txBody>
      </p:sp>
      <p:sp>
        <p:nvSpPr>
          <p:cNvPr id="4" name="Shape 2"/>
          <p:cNvSpPr/>
          <p:nvPr/>
        </p:nvSpPr>
        <p:spPr>
          <a:xfrm>
            <a:off x="548640" y="1188720"/>
            <a:ext cx="3840480" cy="12801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822960" y="1325880"/>
            <a:ext cx="32918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4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 is a distributed version control system. It takes snapshots of your project every time you commit.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548640" y="2743200"/>
            <a:ext cx="8046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6B61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Think of it as a timeline of your project: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914400" y="3611880"/>
            <a:ext cx="7315200" cy="0"/>
          </a:xfrm>
          <a:prstGeom prst="line">
            <a:avLst/>
          </a:prstGeom>
          <a:noFill/>
          <a:ln w="25400">
            <a:solidFill>
              <a:srgbClr val="B31B1B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371600" y="3383280"/>
            <a:ext cx="457200" cy="457200"/>
          </a:xfrm>
          <a:prstGeom prst="ellipse">
            <a:avLst/>
          </a:prstGeom>
          <a:solidFill>
            <a:srgbClr val="B31B1B"/>
          </a:solidFill>
          <a:ln/>
        </p:spPr>
      </p:sp>
      <p:sp>
        <p:nvSpPr>
          <p:cNvPr id="9" name="Text 7"/>
          <p:cNvSpPr/>
          <p:nvPr/>
        </p:nvSpPr>
        <p:spPr>
          <a:xfrm>
            <a:off x="640080" y="3931920"/>
            <a:ext cx="1920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v1: Load data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114800" y="3383280"/>
            <a:ext cx="457200" cy="457200"/>
          </a:xfrm>
          <a:prstGeom prst="ellipse">
            <a:avLst/>
          </a:prstGeom>
          <a:solidFill>
            <a:srgbClr val="B31B1B"/>
          </a:solidFill>
          <a:ln/>
        </p:spPr>
      </p:sp>
      <p:sp>
        <p:nvSpPr>
          <p:cNvPr id="11" name="Text 9"/>
          <p:cNvSpPr/>
          <p:nvPr/>
        </p:nvSpPr>
        <p:spPr>
          <a:xfrm>
            <a:off x="3383280" y="3931920"/>
            <a:ext cx="1920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v2: Clean variables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6858000" y="3383280"/>
            <a:ext cx="457200" cy="457200"/>
          </a:xfrm>
          <a:prstGeom prst="ellipse">
            <a:avLst/>
          </a:prstGeom>
          <a:solidFill>
            <a:srgbClr val="B31B1B"/>
          </a:solidFill>
          <a:ln/>
        </p:spPr>
      </p:sp>
      <p:sp>
        <p:nvSpPr>
          <p:cNvPr id="13" name="Text 11"/>
          <p:cNvSpPr/>
          <p:nvPr/>
        </p:nvSpPr>
        <p:spPr>
          <a:xfrm>
            <a:off x="6126480" y="3931920"/>
            <a:ext cx="1920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v3: Run regression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4754880" y="1188720"/>
            <a:ext cx="3840480" cy="1280160"/>
          </a:xfrm>
          <a:prstGeom prst="rect">
            <a:avLst/>
          </a:prstGeom>
          <a:solidFill>
            <a:srgbClr val="B31B1B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5029200" y="1280160"/>
            <a:ext cx="329184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 ≠ GitHub</a:t>
            </a:r>
            <a:endParaRPr lang="en-US" sz="18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 is the tool. GitHub is a hosting service where you store and share your Git repositories online.</a:t>
            </a:r>
            <a:endParaRPr lang="en-US" sz="1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9F5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7772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B31B1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Setup: Install &amp; Configure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8046720" y="4709160"/>
            <a:ext cx="914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61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/ 14</a:t>
            </a:r>
            <a:endParaRPr lang="en-US" sz="90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188720"/>
            <a:ext cx="365760" cy="36576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005840" y="118872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Install Git</a:t>
            </a:r>
            <a:endParaRPr lang="en-US" sz="1800" dirty="0"/>
          </a:p>
        </p:txBody>
      </p:sp>
      <p:sp>
        <p:nvSpPr>
          <p:cNvPr id="6" name="Shape 3"/>
          <p:cNvSpPr/>
          <p:nvPr/>
        </p:nvSpPr>
        <p:spPr>
          <a:xfrm>
            <a:off x="548640" y="1691640"/>
            <a:ext cx="3840480" cy="1463040"/>
          </a:xfrm>
          <a:prstGeom prst="rect">
            <a:avLst/>
          </a:prstGeom>
          <a:solidFill>
            <a:srgbClr val="1E1E1E"/>
          </a:solidFill>
          <a:ln/>
        </p:spPr>
      </p:sp>
      <p:sp>
        <p:nvSpPr>
          <p:cNvPr id="7" name="Text 4"/>
          <p:cNvSpPr/>
          <p:nvPr/>
        </p:nvSpPr>
        <p:spPr>
          <a:xfrm>
            <a:off x="822960" y="1783080"/>
            <a:ext cx="329184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6B72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Mac (via Homebrew)</a:t>
            </a:r>
            <a:endParaRPr lang="en-US" sz="12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brew install git</a:t>
            </a:r>
            <a:endParaRPr lang="en-US" sz="1200" dirty="0"/>
          </a:p>
          <a:p>
            <a:pPr indent="0" marL="0">
              <a:lnSpc>
                <a:spcPct val="140000"/>
              </a:lnSpc>
              <a:buNone/>
            </a:pPr>
            <a:endParaRPr lang="en-US" sz="12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6B72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Windows</a:t>
            </a:r>
            <a:endParaRPr lang="en-US" sz="12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6B72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Download from git-scm.com</a:t>
            </a:r>
            <a:endParaRPr lang="en-US" sz="1200" dirty="0"/>
          </a:p>
        </p:txBody>
      </p:sp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54880" y="1188720"/>
            <a:ext cx="365760" cy="365760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5212080" y="118872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Configure your identity</a:t>
            </a:r>
            <a:endParaRPr lang="en-US" sz="1800" dirty="0"/>
          </a:p>
        </p:txBody>
      </p:sp>
      <p:sp>
        <p:nvSpPr>
          <p:cNvPr id="10" name="Shape 6"/>
          <p:cNvSpPr/>
          <p:nvPr/>
        </p:nvSpPr>
        <p:spPr>
          <a:xfrm>
            <a:off x="4754880" y="1691640"/>
            <a:ext cx="3840480" cy="1463040"/>
          </a:xfrm>
          <a:prstGeom prst="rect">
            <a:avLst/>
          </a:prstGeom>
          <a:solidFill>
            <a:srgbClr val="1E1E1E"/>
          </a:solidFill>
          <a:ln/>
        </p:spPr>
      </p:sp>
      <p:sp>
        <p:nvSpPr>
          <p:cNvPr id="11" name="Text 7"/>
          <p:cNvSpPr/>
          <p:nvPr/>
        </p:nvSpPr>
        <p:spPr>
          <a:xfrm>
            <a:off x="5029200" y="1783080"/>
            <a:ext cx="329184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git config --global user.name \</a:t>
            </a:r>
            <a:endParaRPr lang="en-US" sz="12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86EF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"Your Name"</a:t>
            </a:r>
            <a:endParaRPr lang="en-US" sz="12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git config --global user.email \</a:t>
            </a:r>
            <a:endParaRPr lang="en-US" sz="12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86EF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"you@email.com"</a:t>
            </a:r>
            <a:endParaRPr lang="en-US" sz="1200" dirty="0"/>
          </a:p>
        </p:txBody>
      </p:sp>
      <p:sp>
        <p:nvSpPr>
          <p:cNvPr id="12" name="Shape 8"/>
          <p:cNvSpPr/>
          <p:nvPr/>
        </p:nvSpPr>
        <p:spPr>
          <a:xfrm>
            <a:off x="548640" y="3474720"/>
            <a:ext cx="8046720" cy="822960"/>
          </a:xfrm>
          <a:prstGeom prst="rect">
            <a:avLst/>
          </a:prstGeom>
          <a:solidFill>
            <a:srgbClr val="F2EDED"/>
          </a:solidFill>
          <a:ln/>
        </p:spPr>
      </p:sp>
      <p:pic>
        <p:nvPicPr>
          <p:cNvPr id="13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2960" y="3611880"/>
            <a:ext cx="365760" cy="365760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1371600" y="3566160"/>
            <a:ext cx="6858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Hands-on: Open your terminal and run these commands now. Verify with  git --version</a:t>
            </a:r>
            <a:endParaRPr lang="en-US" sz="13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9F5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7772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B31B1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Three Areas of Git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8046720" y="4709160"/>
            <a:ext cx="914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61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/ 14</a:t>
            </a:r>
            <a:endParaRPr lang="en-US" sz="900" dirty="0"/>
          </a:p>
        </p:txBody>
      </p:sp>
      <p:sp>
        <p:nvSpPr>
          <p:cNvPr id="4" name="Shape 2"/>
          <p:cNvSpPr/>
          <p:nvPr/>
        </p:nvSpPr>
        <p:spPr>
          <a:xfrm>
            <a:off x="457200" y="1280160"/>
            <a:ext cx="2011680" cy="2011680"/>
          </a:xfrm>
          <a:prstGeom prst="rect">
            <a:avLst/>
          </a:prstGeom>
          <a:solidFill>
            <a:srgbClr val="6B6161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457200" y="1463040"/>
            <a:ext cx="2011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Working Directory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548640" y="2103120"/>
            <a:ext cx="1828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 you edit files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3474720" y="1280160"/>
            <a:ext cx="2011680" cy="2011680"/>
          </a:xfrm>
          <a:prstGeom prst="rect">
            <a:avLst/>
          </a:prstGeom>
          <a:solidFill>
            <a:srgbClr val="8B1515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3474720" y="1463040"/>
            <a:ext cx="2011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Staging Area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3566160" y="2103120"/>
            <a:ext cx="1828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Files marked for next commit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6492240" y="1280160"/>
            <a:ext cx="2011680" cy="2011680"/>
          </a:xfrm>
          <a:prstGeom prst="rect">
            <a:avLst/>
          </a:prstGeom>
          <a:solidFill>
            <a:srgbClr val="B31B1B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6492240" y="1463040"/>
            <a:ext cx="2011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Repository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6583680" y="2103120"/>
            <a:ext cx="1828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Permanent history of commits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2423160" y="1965960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B3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 add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2606040" y="2286000"/>
            <a:ext cx="731520" cy="0"/>
          </a:xfrm>
          <a:prstGeom prst="line">
            <a:avLst/>
          </a:prstGeom>
          <a:noFill/>
          <a:ln w="25400">
            <a:solidFill>
              <a:srgbClr val="B31B1B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440680" y="1965960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B3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 commit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5623560" y="2286000"/>
            <a:ext cx="731520" cy="0"/>
          </a:xfrm>
          <a:prstGeom prst="line">
            <a:avLst/>
          </a:prstGeom>
          <a:noFill/>
          <a:ln w="25400">
            <a:solidFill>
              <a:srgbClr val="B31B1B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48640" y="3749040"/>
            <a:ext cx="8046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6B61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is the core mental model. Every Git command moves files between these three areas.</a:t>
            </a:r>
            <a:endParaRPr lang="en-US" sz="13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9F5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7772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B31B1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Your First Repository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8046720" y="4709160"/>
            <a:ext cx="914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61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/ 14</a:t>
            </a:r>
            <a:endParaRPr lang="en-US" sz="900" dirty="0"/>
          </a:p>
        </p:txBody>
      </p:sp>
      <p:sp>
        <p:nvSpPr>
          <p:cNvPr id="4" name="Shape 2"/>
          <p:cNvSpPr/>
          <p:nvPr/>
        </p:nvSpPr>
        <p:spPr>
          <a:xfrm>
            <a:off x="548640" y="1097280"/>
            <a:ext cx="8046720" cy="2560320"/>
          </a:xfrm>
          <a:prstGeom prst="rect">
            <a:avLst/>
          </a:prstGeom>
          <a:solidFill>
            <a:srgbClr val="1E1E1E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914400" y="1234440"/>
            <a:ext cx="7315200" cy="2286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1400" dirty="0">
                <a:solidFill>
                  <a:srgbClr val="6B72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1. Create a project folder</a:t>
            </a:r>
            <a:endParaRPr lang="en-US" sz="140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4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mkdir my-research &amp;&amp; cd my-research</a:t>
            </a:r>
            <a:endParaRPr lang="en-US" sz="1400" dirty="0"/>
          </a:p>
          <a:p>
            <a:pPr indent="0" marL="0">
              <a:lnSpc>
                <a:spcPct val="135000"/>
              </a:lnSpc>
              <a:buNone/>
            </a:pPr>
            <a:endParaRPr lang="en-US" sz="140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400" dirty="0">
                <a:solidFill>
                  <a:srgbClr val="6B72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2. Initialize a Git repository</a:t>
            </a:r>
            <a:endParaRPr lang="en-US" sz="140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400" b="1" dirty="0">
                <a:solidFill>
                  <a:srgbClr val="86EF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git init</a:t>
            </a:r>
            <a:endParaRPr lang="en-US" sz="1400" dirty="0"/>
          </a:p>
          <a:p>
            <a:pPr indent="0" marL="0">
              <a:lnSpc>
                <a:spcPct val="135000"/>
              </a:lnSpc>
              <a:buNone/>
            </a:pPr>
            <a:endParaRPr lang="en-US" sz="140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400" dirty="0">
                <a:solidFill>
                  <a:srgbClr val="6B72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3. Check what Git sees</a:t>
            </a:r>
            <a:endParaRPr lang="en-US" sz="140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400" b="1" dirty="0">
                <a:solidFill>
                  <a:srgbClr val="86EF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git status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548640" y="3840480"/>
            <a:ext cx="3840480" cy="8229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12700" dir="8100000">
              <a:srgbClr val="000000">
                <a:alpha val="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731520" y="3931920"/>
            <a:ext cx="34747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200" b="1" dirty="0">
                <a:solidFill>
                  <a:srgbClr val="B31B1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git init  </a:t>
            </a:r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creates a hidden .git/ folder that stores all version history.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4754880" y="3840480"/>
            <a:ext cx="3840480" cy="8229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12700" dir="8100000">
              <a:srgbClr val="000000">
                <a:alpha val="8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4937760" y="3931920"/>
            <a:ext cx="34747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200" b="1" dirty="0">
                <a:solidFill>
                  <a:srgbClr val="B31B1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git status  </a:t>
            </a:r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shows which files are tracked, staged, or modified.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9F5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7772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B31B1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Stage &amp; Commit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8046720" y="4709160"/>
            <a:ext cx="914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61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/ 14</a:t>
            </a:r>
            <a:endParaRPr lang="en-US" sz="900" dirty="0"/>
          </a:p>
        </p:txBody>
      </p:sp>
      <p:sp>
        <p:nvSpPr>
          <p:cNvPr id="4" name="Shape 2"/>
          <p:cNvSpPr/>
          <p:nvPr/>
        </p:nvSpPr>
        <p:spPr>
          <a:xfrm>
            <a:off x="548640" y="1097280"/>
            <a:ext cx="8046720" cy="2011680"/>
          </a:xfrm>
          <a:prstGeom prst="rect">
            <a:avLst/>
          </a:prstGeom>
          <a:solidFill>
            <a:srgbClr val="1E1E1E"/>
          </a:solidFill>
          <a:ln/>
        </p:spPr>
      </p:sp>
      <p:sp>
        <p:nvSpPr>
          <p:cNvPr id="5" name="Text 3"/>
          <p:cNvSpPr/>
          <p:nvPr/>
        </p:nvSpPr>
        <p:spPr>
          <a:xfrm>
            <a:off x="914400" y="1188720"/>
            <a:ext cx="731520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6B72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Stage a specific file</a:t>
            </a:r>
            <a:endParaRPr lang="en-US" sz="13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86EF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git add analysis.R</a:t>
            </a:r>
            <a:endParaRPr lang="en-US" sz="1300" dirty="0"/>
          </a:p>
          <a:p>
            <a:pPr indent="0" marL="0">
              <a:lnSpc>
                <a:spcPct val="125000"/>
              </a:lnSpc>
              <a:buNone/>
            </a:pPr>
            <a:endParaRPr lang="en-US" sz="13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6B72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Stage all changes</a:t>
            </a:r>
            <a:endParaRPr lang="en-US" sz="13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git add .</a:t>
            </a:r>
            <a:endParaRPr lang="en-US" sz="1300" dirty="0"/>
          </a:p>
          <a:p>
            <a:pPr indent="0" marL="0">
              <a:lnSpc>
                <a:spcPct val="125000"/>
              </a:lnSpc>
              <a:buNone/>
            </a:pPr>
            <a:endParaRPr lang="en-US" sz="13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6B72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Commit with a message</a:t>
            </a:r>
            <a:endParaRPr lang="en-US" sz="13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300" b="1" dirty="0">
                <a:solidFill>
                  <a:srgbClr val="86EF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git commit -m "Add initial regression analysis"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548640" y="3337560"/>
            <a:ext cx="8046720" cy="914400"/>
          </a:xfrm>
          <a:prstGeom prst="rect">
            <a:avLst/>
          </a:prstGeom>
          <a:solidFill>
            <a:srgbClr val="F2EDED"/>
          </a:solidFill>
          <a:ln/>
        </p:spPr>
      </p:sp>
      <p:sp>
        <p:nvSpPr>
          <p:cNvPr id="7" name="Shape 5"/>
          <p:cNvSpPr/>
          <p:nvPr/>
        </p:nvSpPr>
        <p:spPr>
          <a:xfrm>
            <a:off x="548640" y="3337560"/>
            <a:ext cx="54864" cy="914400"/>
          </a:xfrm>
          <a:prstGeom prst="rect">
            <a:avLst/>
          </a:prstGeom>
          <a:solidFill>
            <a:srgbClr val="B31B1B"/>
          </a:solidFill>
          <a:ln/>
        </p:spPr>
      </p:sp>
      <p:sp>
        <p:nvSpPr>
          <p:cNvPr id="8" name="Text 6"/>
          <p:cNvSpPr/>
          <p:nvPr/>
        </p:nvSpPr>
        <p:spPr>
          <a:xfrm>
            <a:off x="822960" y="338328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Writing good commit messages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822960" y="370332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6B61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 specific. "Fix bug" is bad. "Fix off-by-one error in sample selection" is good. Your future self will thank you.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2D2D2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0080" y="548640"/>
            <a:ext cx="548640" cy="54864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1371600" y="548640"/>
            <a:ext cx="4572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Exercise 1</a:t>
            </a:r>
            <a:endParaRPr lang="en-US" sz="3000" dirty="0"/>
          </a:p>
        </p:txBody>
      </p:sp>
      <p:sp>
        <p:nvSpPr>
          <p:cNvPr id="4" name="Text 1"/>
          <p:cNvSpPr/>
          <p:nvPr/>
        </p:nvSpPr>
        <p:spPr>
          <a:xfrm>
            <a:off x="640080" y="1188720"/>
            <a:ext cx="7772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CCC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 a project, write some R code, and make your first commits</a:t>
            </a:r>
            <a:endParaRPr lang="en-US" sz="1500" dirty="0"/>
          </a:p>
        </p:txBody>
      </p:sp>
      <p:sp>
        <p:nvSpPr>
          <p:cNvPr id="5" name="Text 2"/>
          <p:cNvSpPr/>
          <p:nvPr/>
        </p:nvSpPr>
        <p:spPr>
          <a:xfrm>
            <a:off x="8046720" y="4709160"/>
            <a:ext cx="914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61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/ 14</a:t>
            </a:r>
            <a:endParaRPr lang="en-US" sz="900" dirty="0"/>
          </a:p>
        </p:txBody>
      </p:sp>
      <p:sp>
        <p:nvSpPr>
          <p:cNvPr id="6" name="Shape 3"/>
          <p:cNvSpPr/>
          <p:nvPr/>
        </p:nvSpPr>
        <p:spPr>
          <a:xfrm>
            <a:off x="822960" y="1920240"/>
            <a:ext cx="320040" cy="320040"/>
          </a:xfrm>
          <a:prstGeom prst="ellipse">
            <a:avLst/>
          </a:prstGeom>
          <a:solidFill>
            <a:srgbClr val="B31B1B"/>
          </a:solidFill>
          <a:ln/>
        </p:spPr>
      </p:sp>
      <p:sp>
        <p:nvSpPr>
          <p:cNvPr id="7" name="Text 4"/>
          <p:cNvSpPr/>
          <p:nvPr/>
        </p:nvSpPr>
        <p:spPr>
          <a:xfrm>
            <a:off x="822960" y="1920240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200" dirty="0"/>
          </a:p>
        </p:txBody>
      </p:sp>
      <p:sp>
        <p:nvSpPr>
          <p:cNvPr id="8" name="Text 5"/>
          <p:cNvSpPr/>
          <p:nvPr/>
        </p:nvSpPr>
        <p:spPr>
          <a:xfrm>
            <a:off x="1371600" y="1920240"/>
            <a:ext cx="6858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 a folder called wage-analysis and initialize Git</a:t>
            </a:r>
            <a:endParaRPr lang="en-US" sz="1400" dirty="0"/>
          </a:p>
        </p:txBody>
      </p:sp>
      <p:sp>
        <p:nvSpPr>
          <p:cNvPr id="9" name="Shape 6"/>
          <p:cNvSpPr/>
          <p:nvPr/>
        </p:nvSpPr>
        <p:spPr>
          <a:xfrm>
            <a:off x="822960" y="2468880"/>
            <a:ext cx="320040" cy="320040"/>
          </a:xfrm>
          <a:prstGeom prst="ellipse">
            <a:avLst/>
          </a:prstGeom>
          <a:solidFill>
            <a:srgbClr val="B31B1B"/>
          </a:solidFill>
          <a:ln/>
        </p:spPr>
      </p:sp>
      <p:sp>
        <p:nvSpPr>
          <p:cNvPr id="10" name="Text 7"/>
          <p:cNvSpPr/>
          <p:nvPr/>
        </p:nvSpPr>
        <p:spPr>
          <a:xfrm>
            <a:off x="822960" y="2468880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200" dirty="0"/>
          </a:p>
        </p:txBody>
      </p:sp>
      <p:sp>
        <p:nvSpPr>
          <p:cNvPr id="11" name="Text 8"/>
          <p:cNvSpPr/>
          <p:nvPr/>
        </p:nvSpPr>
        <p:spPr>
          <a:xfrm>
            <a:off x="1371600" y="2468880"/>
            <a:ext cx="6858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 a file called clean_data.R with a few lines of R code</a:t>
            </a:r>
            <a:endParaRPr lang="en-US" sz="1400" dirty="0"/>
          </a:p>
        </p:txBody>
      </p:sp>
      <p:sp>
        <p:nvSpPr>
          <p:cNvPr id="12" name="Shape 9"/>
          <p:cNvSpPr/>
          <p:nvPr/>
        </p:nvSpPr>
        <p:spPr>
          <a:xfrm>
            <a:off x="822960" y="3017520"/>
            <a:ext cx="320040" cy="320040"/>
          </a:xfrm>
          <a:prstGeom prst="ellipse">
            <a:avLst/>
          </a:prstGeom>
          <a:solidFill>
            <a:srgbClr val="B31B1B"/>
          </a:solidFill>
          <a:ln/>
        </p:spPr>
      </p:sp>
      <p:sp>
        <p:nvSpPr>
          <p:cNvPr id="13" name="Text 10"/>
          <p:cNvSpPr/>
          <p:nvPr/>
        </p:nvSpPr>
        <p:spPr>
          <a:xfrm>
            <a:off x="822960" y="3017520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200" dirty="0"/>
          </a:p>
        </p:txBody>
      </p:sp>
      <p:sp>
        <p:nvSpPr>
          <p:cNvPr id="14" name="Text 11"/>
          <p:cNvSpPr/>
          <p:nvPr/>
        </p:nvSpPr>
        <p:spPr>
          <a:xfrm>
            <a:off x="1371600" y="3017520"/>
            <a:ext cx="6858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Stage and commit it with message "Add data cleaning script"</a:t>
            </a:r>
            <a:endParaRPr lang="en-US" sz="1400" dirty="0"/>
          </a:p>
        </p:txBody>
      </p:sp>
      <p:sp>
        <p:nvSpPr>
          <p:cNvPr id="15" name="Shape 12"/>
          <p:cNvSpPr/>
          <p:nvPr/>
        </p:nvSpPr>
        <p:spPr>
          <a:xfrm>
            <a:off x="822960" y="3566160"/>
            <a:ext cx="320040" cy="320040"/>
          </a:xfrm>
          <a:prstGeom prst="ellipse">
            <a:avLst/>
          </a:prstGeom>
          <a:solidFill>
            <a:srgbClr val="B31B1B"/>
          </a:solidFill>
          <a:ln/>
        </p:spPr>
      </p:sp>
      <p:sp>
        <p:nvSpPr>
          <p:cNvPr id="16" name="Text 13"/>
          <p:cNvSpPr/>
          <p:nvPr/>
        </p:nvSpPr>
        <p:spPr>
          <a:xfrm>
            <a:off x="822960" y="3566160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200" dirty="0"/>
          </a:p>
        </p:txBody>
      </p:sp>
      <p:sp>
        <p:nvSpPr>
          <p:cNvPr id="17" name="Text 14"/>
          <p:cNvSpPr/>
          <p:nvPr/>
        </p:nvSpPr>
        <p:spPr>
          <a:xfrm>
            <a:off x="1371600" y="3566160"/>
            <a:ext cx="6858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Edit the file (add a comment or new line), then commit again</a:t>
            </a:r>
            <a:endParaRPr lang="en-US" sz="1400" dirty="0"/>
          </a:p>
        </p:txBody>
      </p:sp>
      <p:sp>
        <p:nvSpPr>
          <p:cNvPr id="18" name="Shape 15"/>
          <p:cNvSpPr/>
          <p:nvPr/>
        </p:nvSpPr>
        <p:spPr>
          <a:xfrm>
            <a:off x="822960" y="4114800"/>
            <a:ext cx="320040" cy="320040"/>
          </a:xfrm>
          <a:prstGeom prst="ellipse">
            <a:avLst/>
          </a:prstGeom>
          <a:solidFill>
            <a:srgbClr val="B31B1B"/>
          </a:solidFill>
          <a:ln/>
        </p:spPr>
      </p:sp>
      <p:sp>
        <p:nvSpPr>
          <p:cNvPr id="19" name="Text 16"/>
          <p:cNvSpPr/>
          <p:nvPr/>
        </p:nvSpPr>
        <p:spPr>
          <a:xfrm>
            <a:off x="822960" y="4114800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200" dirty="0"/>
          </a:p>
        </p:txBody>
      </p:sp>
      <p:sp>
        <p:nvSpPr>
          <p:cNvPr id="20" name="Text 17"/>
          <p:cNvSpPr/>
          <p:nvPr/>
        </p:nvSpPr>
        <p:spPr>
          <a:xfrm>
            <a:off x="1371600" y="4114800"/>
            <a:ext cx="6858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 git log to see your two commits</a:t>
            </a:r>
            <a:endParaRPr lang="en-US" sz="1400" dirty="0"/>
          </a:p>
        </p:txBody>
      </p:sp>
      <p:sp>
        <p:nvSpPr>
          <p:cNvPr id="21" name="Text 18"/>
          <p:cNvSpPr/>
          <p:nvPr/>
        </p:nvSpPr>
        <p:spPr>
          <a:xfrm>
            <a:off x="640080" y="4572000"/>
            <a:ext cx="7772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61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~15 minutes   |   Companion notes have copy-paste commands</a:t>
            </a:r>
            <a:endParaRPr lang="en-US" sz="11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9F5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7772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B31B1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Viewing History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8046720" y="4709160"/>
            <a:ext cx="914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61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 / 14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548640" y="109728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B31B1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git log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2194560" y="109728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B61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See the full history of commits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548640" y="1554480"/>
            <a:ext cx="8046720" cy="1371600"/>
          </a:xfrm>
          <a:prstGeom prst="rect">
            <a:avLst/>
          </a:prstGeom>
          <a:solidFill>
            <a:srgbClr val="1E1E1E"/>
          </a:solidFill>
          <a:ln/>
        </p:spPr>
      </p:sp>
      <p:sp>
        <p:nvSpPr>
          <p:cNvPr id="7" name="Text 5"/>
          <p:cNvSpPr/>
          <p:nvPr/>
        </p:nvSpPr>
        <p:spPr>
          <a:xfrm>
            <a:off x="914400" y="1645920"/>
            <a:ext cx="731520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86EF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git log --oneline</a:t>
            </a:r>
            <a:endParaRPr lang="en-US" sz="1200" dirty="0"/>
          </a:p>
          <a:p>
            <a:pPr indent="0" marL="0">
              <a:lnSpc>
                <a:spcPct val="130000"/>
              </a:lnSpc>
              <a:buNone/>
            </a:pPr>
            <a:endParaRPr lang="en-US" sz="12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a1b2c3d  Add regression output table</a:t>
            </a:r>
            <a:endParaRPr lang="en-US" sz="12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e4f5g6h  Clean variable names</a:t>
            </a:r>
            <a:endParaRPr lang="en-US" sz="12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i7j8k9l  Add data cleaning script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548640" y="320040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B31B1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git diff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2194560" y="320040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B61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See what changed since the last commit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548640" y="3657600"/>
            <a:ext cx="8046720" cy="1097280"/>
          </a:xfrm>
          <a:prstGeom prst="rect">
            <a:avLst/>
          </a:prstGeom>
          <a:solidFill>
            <a:srgbClr val="1E1E1E"/>
          </a:solidFill>
          <a:ln/>
        </p:spPr>
      </p:sp>
      <p:sp>
        <p:nvSpPr>
          <p:cNvPr id="11" name="Text 9"/>
          <p:cNvSpPr/>
          <p:nvPr/>
        </p:nvSpPr>
        <p:spPr>
          <a:xfrm>
            <a:off x="914400" y="3794760"/>
            <a:ext cx="73152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300" dirty="0">
                <a:solidFill>
                  <a:srgbClr val="F8717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 lm(wage ~ educ, data = df)</a:t>
            </a:r>
            <a:endParaRPr lang="en-US" sz="13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300" dirty="0">
                <a:solidFill>
                  <a:srgbClr val="86EF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+ lm(wage ~ educ + exper, data = df)</a:t>
            </a:r>
            <a:endParaRPr lang="en-US" sz="13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9F5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7772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B31B1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.gitignore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548640" y="82296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6B61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Tell Git which files to ignore</a:t>
            </a:r>
            <a:endParaRPr lang="en-US" sz="1500" dirty="0"/>
          </a:p>
        </p:txBody>
      </p:sp>
      <p:sp>
        <p:nvSpPr>
          <p:cNvPr id="4" name="Text 2"/>
          <p:cNvSpPr/>
          <p:nvPr/>
        </p:nvSpPr>
        <p:spPr>
          <a:xfrm>
            <a:off x="8046720" y="4709160"/>
            <a:ext cx="914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61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/ 14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548640" y="1417320"/>
            <a:ext cx="3840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should you ignore?</a:t>
            </a:r>
            <a:endParaRPr lang="en-US" sz="1600" dirty="0"/>
          </a:p>
        </p:txBody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0080" y="1938528"/>
            <a:ext cx="256032" cy="256032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051560" y="1920240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Large data files (.csv, .dta)</a:t>
            </a:r>
            <a:endParaRPr lang="en-US" sz="1300" dirty="0"/>
          </a:p>
        </p:txBody>
      </p:sp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2395728"/>
            <a:ext cx="256032" cy="256032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1051560" y="2377440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Sensitive data or credentials</a:t>
            </a:r>
            <a:endParaRPr lang="en-US" sz="1300" dirty="0"/>
          </a:p>
        </p:txBody>
      </p:sp>
      <p:pic>
        <p:nvPicPr>
          <p:cNvPr id="10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" y="2852928"/>
            <a:ext cx="256032" cy="256032"/>
          </a:xfrm>
          <a:prstGeom prst="rect">
            <a:avLst/>
          </a:prstGeom>
        </p:spPr>
      </p:pic>
      <p:sp>
        <p:nvSpPr>
          <p:cNvPr id="11" name="Text 6"/>
          <p:cNvSpPr/>
          <p:nvPr/>
        </p:nvSpPr>
        <p:spPr>
          <a:xfrm>
            <a:off x="1051560" y="2834640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 files you can regenerate</a:t>
            </a:r>
            <a:endParaRPr lang="en-US" sz="1300" dirty="0"/>
          </a:p>
        </p:txBody>
      </p:sp>
      <p:pic>
        <p:nvPicPr>
          <p:cNvPr id="12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0080" y="3310128"/>
            <a:ext cx="256032" cy="256032"/>
          </a:xfrm>
          <a:prstGeom prst="rect">
            <a:avLst/>
          </a:prstGeom>
        </p:spPr>
      </p:pic>
      <p:sp>
        <p:nvSpPr>
          <p:cNvPr id="13" name="Text 7"/>
          <p:cNvSpPr/>
          <p:nvPr/>
        </p:nvSpPr>
        <p:spPr>
          <a:xfrm>
            <a:off x="1051560" y="3291840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files (.DS_Store, Thumbs.db)</a:t>
            </a:r>
            <a:endParaRPr lang="en-US" sz="1300" dirty="0"/>
          </a:p>
        </p:txBody>
      </p:sp>
      <p:pic>
        <p:nvPicPr>
          <p:cNvPr id="14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40080" y="3767328"/>
            <a:ext cx="256032" cy="256032"/>
          </a:xfrm>
          <a:prstGeom prst="rect">
            <a:avLst/>
          </a:prstGeom>
        </p:spPr>
      </p:pic>
      <p:sp>
        <p:nvSpPr>
          <p:cNvPr id="15" name="Text 8"/>
          <p:cNvSpPr/>
          <p:nvPr/>
        </p:nvSpPr>
        <p:spPr>
          <a:xfrm>
            <a:off x="1051560" y="3749040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 environment files (.RData, .Rhistory)</a:t>
            </a:r>
            <a:endParaRPr lang="en-US" sz="1300" dirty="0"/>
          </a:p>
        </p:txBody>
      </p:sp>
      <p:sp>
        <p:nvSpPr>
          <p:cNvPr id="16" name="Text 9"/>
          <p:cNvSpPr/>
          <p:nvPr/>
        </p:nvSpPr>
        <p:spPr>
          <a:xfrm>
            <a:off x="4754880" y="1417320"/>
            <a:ext cx="3840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 .gitignore</a:t>
            </a:r>
            <a:endParaRPr lang="en-US" sz="1600" dirty="0"/>
          </a:p>
        </p:txBody>
      </p:sp>
      <p:sp>
        <p:nvSpPr>
          <p:cNvPr id="17" name="Shape 10"/>
          <p:cNvSpPr/>
          <p:nvPr/>
        </p:nvSpPr>
        <p:spPr>
          <a:xfrm>
            <a:off x="4754880" y="1874520"/>
            <a:ext cx="3840480" cy="2377440"/>
          </a:xfrm>
          <a:prstGeom prst="rect">
            <a:avLst/>
          </a:prstGeom>
          <a:solidFill>
            <a:srgbClr val="1E1E1E"/>
          </a:solidFill>
          <a:ln/>
        </p:spPr>
      </p:sp>
      <p:sp>
        <p:nvSpPr>
          <p:cNvPr id="18" name="Text 11"/>
          <p:cNvSpPr/>
          <p:nvPr/>
        </p:nvSpPr>
        <p:spPr>
          <a:xfrm>
            <a:off x="5029200" y="1965960"/>
            <a:ext cx="3291840" cy="2194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6B72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Data files</a:t>
            </a:r>
            <a:endParaRPr lang="en-US" sz="12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*.csv</a:t>
            </a:r>
            <a:endParaRPr lang="en-US" sz="12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*.dta</a:t>
            </a:r>
            <a:endParaRPr lang="en-US" sz="12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data/</a:t>
            </a:r>
            <a:endParaRPr lang="en-US" sz="1200" dirty="0"/>
          </a:p>
          <a:p>
            <a:pPr indent="0" marL="0">
              <a:lnSpc>
                <a:spcPct val="120000"/>
              </a:lnSpc>
              <a:buNone/>
            </a:pPr>
            <a:endParaRPr lang="en-US" sz="12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6B72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R artifacts</a:t>
            </a:r>
            <a:endParaRPr lang="en-US" sz="12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.Rhistory</a:t>
            </a:r>
            <a:endParaRPr lang="en-US" sz="12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.RData</a:t>
            </a:r>
            <a:endParaRPr lang="en-US" sz="1200" dirty="0"/>
          </a:p>
          <a:p>
            <a:pPr indent="0" marL="0">
              <a:lnSpc>
                <a:spcPct val="120000"/>
              </a:lnSpc>
              <a:buNone/>
            </a:pPr>
            <a:endParaRPr lang="en-US" sz="12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6B72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System files</a:t>
            </a:r>
            <a:endParaRPr lang="en-US" sz="12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.DS_Store</a:t>
            </a:r>
            <a:endParaRPr lang="en-US" sz="12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9F5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7772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B31B1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Undoing Mistakes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8046720" y="4709160"/>
            <a:ext cx="914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61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 / 14</a:t>
            </a:r>
            <a:endParaRPr lang="en-US" sz="900" dirty="0"/>
          </a:p>
        </p:txBody>
      </p:sp>
      <p:sp>
        <p:nvSpPr>
          <p:cNvPr id="4" name="Shape 2"/>
          <p:cNvSpPr/>
          <p:nvPr/>
        </p:nvSpPr>
        <p:spPr>
          <a:xfrm>
            <a:off x="548640" y="1097280"/>
            <a:ext cx="8046720" cy="9144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12700" dir="8100000">
              <a:srgbClr val="000000">
                <a:alpha val="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548640" y="1097280"/>
            <a:ext cx="54864" cy="914400"/>
          </a:xfrm>
          <a:prstGeom prst="rect">
            <a:avLst/>
          </a:prstGeom>
          <a:solidFill>
            <a:srgbClr val="B31B1B"/>
          </a:solidFill>
          <a:ln/>
        </p:spPr>
      </p:sp>
      <p:sp>
        <p:nvSpPr>
          <p:cNvPr id="6" name="Text 4"/>
          <p:cNvSpPr/>
          <p:nvPr/>
        </p:nvSpPr>
        <p:spPr>
          <a:xfrm>
            <a:off x="822960" y="1170432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Unstage a file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4114800" y="1170432"/>
            <a:ext cx="4297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B31B1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git restore --staged file.R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822960" y="1554480"/>
            <a:ext cx="7589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61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Removes file from staging area but keeps your edits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548640" y="2286000"/>
            <a:ext cx="8046720" cy="9144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12700" dir="8100000">
              <a:srgbClr val="000000">
                <a:alpha val="8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548640" y="2286000"/>
            <a:ext cx="54864" cy="914400"/>
          </a:xfrm>
          <a:prstGeom prst="rect">
            <a:avLst/>
          </a:prstGeom>
          <a:solidFill>
            <a:srgbClr val="B31B1B"/>
          </a:solidFill>
          <a:ln/>
        </p:spPr>
      </p:sp>
      <p:sp>
        <p:nvSpPr>
          <p:cNvPr id="11" name="Text 9"/>
          <p:cNvSpPr/>
          <p:nvPr/>
        </p:nvSpPr>
        <p:spPr>
          <a:xfrm>
            <a:off x="822960" y="2359152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Discard local changes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4114800" y="2359152"/>
            <a:ext cx="4297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B31B1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git restore file.R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822960" y="2743200"/>
            <a:ext cx="7589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61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Reverts file to the last committed version (destructive!)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548640" y="3474720"/>
            <a:ext cx="8046720" cy="9144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12700" dir="8100000">
              <a:srgbClr val="000000">
                <a:alpha val="8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548640" y="3474720"/>
            <a:ext cx="54864" cy="914400"/>
          </a:xfrm>
          <a:prstGeom prst="rect">
            <a:avLst/>
          </a:prstGeom>
          <a:solidFill>
            <a:srgbClr val="B31B1B"/>
          </a:solidFill>
          <a:ln/>
        </p:spPr>
      </p:sp>
      <p:sp>
        <p:nvSpPr>
          <p:cNvPr id="16" name="Text 14"/>
          <p:cNvSpPr/>
          <p:nvPr/>
        </p:nvSpPr>
        <p:spPr>
          <a:xfrm>
            <a:off x="822960" y="3547872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Undo last commit (keep changes)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4114800" y="3547872"/>
            <a:ext cx="4297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B31B1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git reset --soft HEAD~1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822960" y="3931920"/>
            <a:ext cx="7589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61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Undoes the commit but keeps files staged</a:t>
            </a:r>
            <a:endParaRPr lang="en-US" sz="12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2D2D2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0080" y="548640"/>
            <a:ext cx="548640" cy="54864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1371600" y="548640"/>
            <a:ext cx="4572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Exercise 2</a:t>
            </a:r>
            <a:endParaRPr lang="en-US" sz="3000" dirty="0"/>
          </a:p>
        </p:txBody>
      </p:sp>
      <p:sp>
        <p:nvSpPr>
          <p:cNvPr id="4" name="Text 1"/>
          <p:cNvSpPr/>
          <p:nvPr/>
        </p:nvSpPr>
        <p:spPr>
          <a:xfrm>
            <a:off x="640080" y="1188720"/>
            <a:ext cx="7772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CCC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Practice the full workflow: edit, stage, commit, view, undo</a:t>
            </a:r>
            <a:endParaRPr lang="en-US" sz="1500" dirty="0"/>
          </a:p>
        </p:txBody>
      </p:sp>
      <p:sp>
        <p:nvSpPr>
          <p:cNvPr id="5" name="Text 2"/>
          <p:cNvSpPr/>
          <p:nvPr/>
        </p:nvSpPr>
        <p:spPr>
          <a:xfrm>
            <a:off x="8046720" y="4709160"/>
            <a:ext cx="914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61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 / 14</a:t>
            </a:r>
            <a:endParaRPr lang="en-US" sz="900" dirty="0"/>
          </a:p>
        </p:txBody>
      </p:sp>
      <p:sp>
        <p:nvSpPr>
          <p:cNvPr id="6" name="Shape 3"/>
          <p:cNvSpPr/>
          <p:nvPr/>
        </p:nvSpPr>
        <p:spPr>
          <a:xfrm>
            <a:off x="822960" y="1920240"/>
            <a:ext cx="320040" cy="320040"/>
          </a:xfrm>
          <a:prstGeom prst="ellipse">
            <a:avLst/>
          </a:prstGeom>
          <a:solidFill>
            <a:srgbClr val="B31B1B"/>
          </a:solidFill>
          <a:ln/>
        </p:spPr>
      </p:sp>
      <p:sp>
        <p:nvSpPr>
          <p:cNvPr id="7" name="Text 4"/>
          <p:cNvSpPr/>
          <p:nvPr/>
        </p:nvSpPr>
        <p:spPr>
          <a:xfrm>
            <a:off x="822960" y="1920240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200" dirty="0"/>
          </a:p>
        </p:txBody>
      </p:sp>
      <p:sp>
        <p:nvSpPr>
          <p:cNvPr id="8" name="Text 5"/>
          <p:cNvSpPr/>
          <p:nvPr/>
        </p:nvSpPr>
        <p:spPr>
          <a:xfrm>
            <a:off x="1371600" y="1920240"/>
            <a:ext cx="6858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 a .gitignore file and commit it</a:t>
            </a:r>
            <a:endParaRPr lang="en-US" sz="1400" dirty="0"/>
          </a:p>
        </p:txBody>
      </p:sp>
      <p:sp>
        <p:nvSpPr>
          <p:cNvPr id="9" name="Shape 6"/>
          <p:cNvSpPr/>
          <p:nvPr/>
        </p:nvSpPr>
        <p:spPr>
          <a:xfrm>
            <a:off x="822960" y="2468880"/>
            <a:ext cx="320040" cy="320040"/>
          </a:xfrm>
          <a:prstGeom prst="ellipse">
            <a:avLst/>
          </a:prstGeom>
          <a:solidFill>
            <a:srgbClr val="B31B1B"/>
          </a:solidFill>
          <a:ln/>
        </p:spPr>
      </p:sp>
      <p:sp>
        <p:nvSpPr>
          <p:cNvPr id="10" name="Text 7"/>
          <p:cNvSpPr/>
          <p:nvPr/>
        </p:nvSpPr>
        <p:spPr>
          <a:xfrm>
            <a:off x="822960" y="2468880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200" dirty="0"/>
          </a:p>
        </p:txBody>
      </p:sp>
      <p:sp>
        <p:nvSpPr>
          <p:cNvPr id="11" name="Text 8"/>
          <p:cNvSpPr/>
          <p:nvPr/>
        </p:nvSpPr>
        <p:spPr>
          <a:xfrm>
            <a:off x="1371600" y="2468880"/>
            <a:ext cx="6858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a new file run_regression.R and commit</a:t>
            </a:r>
            <a:endParaRPr lang="en-US" sz="1400" dirty="0"/>
          </a:p>
        </p:txBody>
      </p:sp>
      <p:sp>
        <p:nvSpPr>
          <p:cNvPr id="12" name="Shape 9"/>
          <p:cNvSpPr/>
          <p:nvPr/>
        </p:nvSpPr>
        <p:spPr>
          <a:xfrm>
            <a:off x="822960" y="3017520"/>
            <a:ext cx="320040" cy="320040"/>
          </a:xfrm>
          <a:prstGeom prst="ellipse">
            <a:avLst/>
          </a:prstGeom>
          <a:solidFill>
            <a:srgbClr val="B31B1B"/>
          </a:solidFill>
          <a:ln/>
        </p:spPr>
      </p:sp>
      <p:sp>
        <p:nvSpPr>
          <p:cNvPr id="13" name="Text 10"/>
          <p:cNvSpPr/>
          <p:nvPr/>
        </p:nvSpPr>
        <p:spPr>
          <a:xfrm>
            <a:off x="822960" y="3017520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200" dirty="0"/>
          </a:p>
        </p:txBody>
      </p:sp>
      <p:sp>
        <p:nvSpPr>
          <p:cNvPr id="14" name="Text 11"/>
          <p:cNvSpPr/>
          <p:nvPr/>
        </p:nvSpPr>
        <p:spPr>
          <a:xfrm>
            <a:off x="1371600" y="3017520"/>
            <a:ext cx="6858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Edit run_regression.R, view the diff, then commit</a:t>
            </a:r>
            <a:endParaRPr lang="en-US" sz="1400" dirty="0"/>
          </a:p>
        </p:txBody>
      </p:sp>
      <p:sp>
        <p:nvSpPr>
          <p:cNvPr id="15" name="Shape 12"/>
          <p:cNvSpPr/>
          <p:nvPr/>
        </p:nvSpPr>
        <p:spPr>
          <a:xfrm>
            <a:off x="822960" y="3566160"/>
            <a:ext cx="320040" cy="320040"/>
          </a:xfrm>
          <a:prstGeom prst="ellipse">
            <a:avLst/>
          </a:prstGeom>
          <a:solidFill>
            <a:srgbClr val="B31B1B"/>
          </a:solidFill>
          <a:ln/>
        </p:spPr>
      </p:sp>
      <p:sp>
        <p:nvSpPr>
          <p:cNvPr id="16" name="Text 13"/>
          <p:cNvSpPr/>
          <p:nvPr/>
        </p:nvSpPr>
        <p:spPr>
          <a:xfrm>
            <a:off x="822960" y="3566160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200" dirty="0"/>
          </a:p>
        </p:txBody>
      </p:sp>
      <p:sp>
        <p:nvSpPr>
          <p:cNvPr id="17" name="Text 14"/>
          <p:cNvSpPr/>
          <p:nvPr/>
        </p:nvSpPr>
        <p:spPr>
          <a:xfrm>
            <a:off x="1371600" y="3566160"/>
            <a:ext cx="6858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Try git restore --staged on a file</a:t>
            </a:r>
            <a:endParaRPr lang="en-US" sz="1400" dirty="0"/>
          </a:p>
        </p:txBody>
      </p:sp>
      <p:sp>
        <p:nvSpPr>
          <p:cNvPr id="18" name="Shape 15"/>
          <p:cNvSpPr/>
          <p:nvPr/>
        </p:nvSpPr>
        <p:spPr>
          <a:xfrm>
            <a:off x="822960" y="4114800"/>
            <a:ext cx="320040" cy="320040"/>
          </a:xfrm>
          <a:prstGeom prst="ellipse">
            <a:avLst/>
          </a:prstGeom>
          <a:solidFill>
            <a:srgbClr val="B31B1B"/>
          </a:solidFill>
          <a:ln/>
        </p:spPr>
      </p:sp>
      <p:sp>
        <p:nvSpPr>
          <p:cNvPr id="19" name="Text 16"/>
          <p:cNvSpPr/>
          <p:nvPr/>
        </p:nvSpPr>
        <p:spPr>
          <a:xfrm>
            <a:off x="822960" y="4114800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200" dirty="0"/>
          </a:p>
        </p:txBody>
      </p:sp>
      <p:sp>
        <p:nvSpPr>
          <p:cNvPr id="20" name="Text 17"/>
          <p:cNvSpPr/>
          <p:nvPr/>
        </p:nvSpPr>
        <p:spPr>
          <a:xfrm>
            <a:off x="1371600" y="4114800"/>
            <a:ext cx="6858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 git log --oneline to see your full history</a:t>
            </a:r>
            <a:endParaRPr lang="en-US" sz="1400" dirty="0"/>
          </a:p>
        </p:txBody>
      </p:sp>
      <p:sp>
        <p:nvSpPr>
          <p:cNvPr id="21" name="Text 18"/>
          <p:cNvSpPr/>
          <p:nvPr/>
        </p:nvSpPr>
        <p:spPr>
          <a:xfrm>
            <a:off x="640080" y="4572000"/>
            <a:ext cx="7772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61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~15 minutes   |   Ask for help anytime</a:t>
            </a:r>
            <a:endParaRPr lang="en-US" sz="11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9F5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7772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B31B1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Git Cheat Sheet — Session 1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8046720" y="4709160"/>
            <a:ext cx="914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61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 / 14</a:t>
            </a:r>
            <a:endParaRPr lang="en-US" sz="900" dirty="0"/>
          </a:p>
        </p:txBody>
      </p:sp>
      <p:graphicFrame>
        <p:nvGraphicFramePr>
          <p:cNvPr id="1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051560"/>
          <a:ext cx="8046720" cy="914400"/>
        </p:xfrm>
        <a:graphic>
          <a:graphicData uri="http://schemas.openxmlformats.org/drawingml/2006/table">
            <a:tbl>
              <a:tblPr/>
              <a:tblGrid>
                <a:gridCol w="3200400"/>
                <a:gridCol w="4846320"/>
              </a:tblGrid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Command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31B1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What it does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31B1B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git init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Create a new repository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git status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Show current state of files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git add &lt;file&gt;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Stage a file for commit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git commit -m "msg"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Save a snapshot with a message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git log --oneline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View commit history (compact)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git diff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Show unstaged changes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git restore --staged &lt;file&gt;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Unstage a file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git restore &lt;file&gt;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Discard changes to a file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B31B1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365760"/>
            <a:ext cx="2011680" cy="54864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48640" y="1097280"/>
            <a:ext cx="7772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E8BF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 Session:</a:t>
            </a:r>
            <a:endParaRPr lang="en-US" sz="2200" dirty="0"/>
          </a:p>
        </p:txBody>
      </p:sp>
      <p:sp>
        <p:nvSpPr>
          <p:cNvPr id="4" name="Text 1"/>
          <p:cNvSpPr/>
          <p:nvPr/>
        </p:nvSpPr>
        <p:spPr>
          <a:xfrm>
            <a:off x="548640" y="1737360"/>
            <a:ext cx="777240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4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GitHub &amp;</a:t>
            </a:r>
            <a:endParaRPr lang="en-US" sz="42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4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Collaboration</a:t>
            </a:r>
            <a:endParaRPr lang="en-US" sz="4200" dirty="0"/>
          </a:p>
        </p:txBody>
      </p:sp>
      <p:sp>
        <p:nvSpPr>
          <p:cNvPr id="5" name="Shape 2"/>
          <p:cNvSpPr/>
          <p:nvPr/>
        </p:nvSpPr>
        <p:spPr>
          <a:xfrm>
            <a:off x="548640" y="3566160"/>
            <a:ext cx="2286000" cy="36576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6" name="Text 3"/>
          <p:cNvSpPr/>
          <p:nvPr/>
        </p:nvSpPr>
        <p:spPr>
          <a:xfrm>
            <a:off x="548640" y="3840480"/>
            <a:ext cx="6400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Remotes, push &amp; pull, branches, pull requests, and working with collaborators.</a:t>
            </a:r>
            <a:endParaRPr lang="en-US" sz="1400" dirty="0"/>
          </a:p>
        </p:txBody>
      </p:sp>
      <p:sp>
        <p:nvSpPr>
          <p:cNvPr id="7" name="Text 4"/>
          <p:cNvSpPr/>
          <p:nvPr/>
        </p:nvSpPr>
        <p:spPr>
          <a:xfrm>
            <a:off x="548640" y="457200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Before next session: create a free GitHub account at github.com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8046720" y="4709160"/>
            <a:ext cx="914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61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 / 14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7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Version Control with Git — Session 1: Fundamentals</dc:title>
  <dc:subject>PptxGenJS Presentation</dc:subject>
  <dc:creator>Ariel Ortiz-Bobea</dc:creator>
  <cp:lastModifiedBy>Ariel Ortiz-Bobea</cp:lastModifiedBy>
  <cp:revision>1</cp:revision>
  <dcterms:created xsi:type="dcterms:W3CDTF">2026-04-06T18:54:01Z</dcterms:created>
  <dcterms:modified xsi:type="dcterms:W3CDTF">2026-04-06T18:54:01Z</dcterms:modified>
</cp:coreProperties>
</file>